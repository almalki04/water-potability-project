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29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0534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jpe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0125" y="1054819"/>
            <a:ext cx="7143750" cy="2100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kern="0" spc="2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PROJECT:
WATER POTABILITY PREDICTION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-1961977" y="3303773"/>
            <a:ext cx="7143750" cy="1308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700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Members:</a:t>
            </a:r>
            <a:br>
              <a:rPr lang="en-US" sz="1700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</a:br>
            <a:r>
              <a:rPr lang="en-US" sz="1700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Ahmed Yahia Mahmoud Ali</a:t>
            </a:r>
          </a:p>
          <a:p>
            <a:pPr algn="ctr"/>
            <a:r>
              <a:rPr lang="en-US" sz="1700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Farag Hany </a:t>
            </a:r>
            <a:r>
              <a:rPr lang="en-US" sz="1700" dirty="0" err="1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Abdeldim</a:t>
            </a:r>
            <a:endParaRPr lang="en-US" sz="1700" dirty="0">
              <a:solidFill>
                <a:srgbClr val="3A506B"/>
              </a:solidFill>
              <a:latin typeface="Segoe UI" pitchFamily="34" charset="0"/>
              <a:ea typeface="Segoe UI" pitchFamily="34" charset="-122"/>
              <a:cs typeface="Segoe UI" pitchFamily="34" charset="-120"/>
            </a:endParaRPr>
          </a:p>
          <a:p>
            <a:pPr algn="ctr"/>
            <a:r>
              <a:rPr lang="en-US" sz="1700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Doha Ahmed</a:t>
            </a:r>
          </a:p>
          <a:p>
            <a:pPr algn="ctr"/>
            <a:r>
              <a:rPr lang="en-US" sz="1700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Shorouq Ibrahim </a:t>
            </a:r>
            <a:r>
              <a:rPr lang="en-US" sz="1700" dirty="0" err="1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Elmelegy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000125" y="2511560"/>
            <a:ext cx="714375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Comparing six classification models to predict water potability based on chemical properties.</a:t>
            </a:r>
            <a:endParaRPr lang="en-US" sz="12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AB701A-4E68-55E1-BD9A-7B8CC57470B4}"/>
              </a:ext>
            </a:extLst>
          </p:cNvPr>
          <p:cNvSpPr txBox="1"/>
          <p:nvPr/>
        </p:nvSpPr>
        <p:spPr>
          <a:xfrm>
            <a:off x="5015345" y="3865418"/>
            <a:ext cx="39485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Course Instructor: </a:t>
            </a:r>
            <a:r>
              <a:rPr lang="en-US" dirty="0" err="1"/>
              <a:t>Eng.Ammar</a:t>
            </a:r>
            <a:r>
              <a:rPr lang="en-US" dirty="0"/>
              <a:t> </a:t>
            </a:r>
            <a:r>
              <a:rPr lang="en-US" dirty="0" err="1"/>
              <a:t>Elnmery</a:t>
            </a:r>
            <a:endParaRPr lang="en-US" dirty="0"/>
          </a:p>
          <a:p>
            <a:r>
              <a:rPr lang="en-US" dirty="0"/>
              <a:t>                                 Eng. Amr </a:t>
            </a:r>
            <a:r>
              <a:rPr lang="en-US" dirty="0" err="1"/>
              <a:t>Shafek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 PREDICTIVE MODEL FOR WATER POTABILITY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428750"/>
            <a:ext cx="3322513" cy="3714750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938" y="1714500"/>
            <a:ext cx="1611474" cy="2536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CONCEPT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2938" y="2275284"/>
            <a:ext cx="118178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Water Potability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42938" y="2616733"/>
            <a:ext cx="28575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Potable = 1
Not Potable = 0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42938" y="3199619"/>
            <a:ext cx="2857500" cy="440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Based on 9 chemical and physical properties.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2938" y="3925379"/>
            <a:ext cx="285750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Binary Classification Task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3821906" y="1714500"/>
            <a:ext cx="49526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714750" y="1982391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 a machine learning model to predict whether a water sample is potable based on its chemical measurements.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821906" y="2653903"/>
            <a:ext cx="784194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DATASET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714750" y="2921794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3,276 water samples, each featuring 9 numerical attributes and a "Potability" target column.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21906" y="3593306"/>
            <a:ext cx="13620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14750" y="3861197"/>
            <a:ext cx="5000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cleaning and preprocessing followed by training and evaluating 6 different classification models.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DATASET OVERVIEW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68585" y="1035844"/>
            <a:ext cx="1914525" cy="1200150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79643" y="1300163"/>
            <a:ext cx="858087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3,276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872877" y="1764506"/>
            <a:ext cx="107167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SAMPLES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531678" y="1035844"/>
            <a:ext cx="1914525" cy="1200150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387868" y="1300163"/>
            <a:ext cx="190705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3141520" y="1764506"/>
            <a:ext cx="68345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7653" y="1035844"/>
            <a:ext cx="1914525" cy="1200150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5284" y="1300163"/>
            <a:ext cx="190705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4999565" y="1764506"/>
            <a:ext cx="116214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 CLASSES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26510" y="1035844"/>
            <a:ext cx="1914525" cy="1200150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271891" y="1300163"/>
            <a:ext cx="858087" cy="3929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1,434</a:t>
            </a:r>
            <a:endParaRPr lang="en-US" sz="2450" dirty="0"/>
          </a:p>
        </p:txBody>
      </p:sp>
      <p:sp>
        <p:nvSpPr>
          <p:cNvPr id="15" name="Text 12"/>
          <p:cNvSpPr/>
          <p:nvPr/>
        </p:nvSpPr>
        <p:spPr>
          <a:xfrm>
            <a:off x="7155582" y="1764506"/>
            <a:ext cx="109076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71500" y="2607469"/>
            <a:ext cx="3341154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NINE CHEMICAL ATTRIBUTES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78656" y="3082528"/>
            <a:ext cx="20091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3393281" y="3082528"/>
            <a:ext cx="672629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Hardness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107906" y="3082528"/>
            <a:ext cx="42806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78656" y="3403997"/>
            <a:ext cx="882197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Chloramines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393281" y="3403997"/>
            <a:ext cx="489291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Sulfate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107906" y="3403997"/>
            <a:ext cx="85607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Conductivity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78656" y="3725466"/>
            <a:ext cx="110945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Organic Carbon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393281" y="3725466"/>
            <a:ext cx="1164766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Trihalomethanes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6107906" y="3725466"/>
            <a:ext cx="596838" cy="17859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Turbidity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ANALYZING TARGET CLASS DISTRIBUTION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813" y="1107281"/>
            <a:ext cx="2857500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85758" y="4250531"/>
            <a:ext cx="127192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Potable (60.99%)</a:t>
            </a:r>
            <a:endParaRPr lang="en-US" sz="900" dirty="0"/>
          </a:p>
        </p:txBody>
      </p:sp>
      <p:sp>
        <p:nvSpPr>
          <p:cNvPr id="6" name="Text 2"/>
          <p:cNvSpPr/>
          <p:nvPr/>
        </p:nvSpPr>
        <p:spPr>
          <a:xfrm>
            <a:off x="1685758" y="4471988"/>
            <a:ext cx="1021947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Potable (39.01%)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429125" y="1393031"/>
            <a:ext cx="4286250" cy="967978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7719" y="1584127"/>
            <a:ext cx="192881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907756" y="1571625"/>
            <a:ext cx="2203400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POTABILITY BREAKDOWN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607719" y="1875234"/>
            <a:ext cx="39290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dataset shows that </a:t>
            </a:r>
            <a:r>
              <a:rPr lang="en-US" sz="10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60.99%</a:t>
            </a: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the samples are classified as </a:t>
            </a:r>
            <a:r>
              <a:rPr lang="en-US" sz="10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Potable</a:t>
            </a: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while </a:t>
            </a:r>
            <a:r>
              <a:rPr lang="en-US" sz="10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39.01%</a:t>
            </a: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are </a:t>
            </a:r>
            <a:r>
              <a:rPr lang="en-US" sz="10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Potable</a:t>
            </a: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4429125" y="2446734"/>
            <a:ext cx="4286250" cy="1182291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719" y="2637830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86325" y="2625328"/>
            <a:ext cx="152061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IMBALANCE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607719" y="2928938"/>
            <a:ext cx="39290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slight imbalance exists between the two classes. This was strictly accounted for during model evaluation to ensure unbiased results.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4429125" y="3714750"/>
            <a:ext cx="4286250" cy="1182291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7719" y="3905845"/>
            <a:ext cx="171450" cy="1714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886325" y="3893344"/>
            <a:ext cx="1625594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FOCUS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4607719" y="4196953"/>
            <a:ext cx="3929063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primary challenge is ensuring the model accurately identifies potable water despite the higher frequency of non-potable samples in the data.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SYSTEMATIC HANDLING OF MISSING VALUES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035844"/>
            <a:ext cx="3929063" cy="28575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4786313" y="1321594"/>
            <a:ext cx="3929063" cy="2075259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000625" y="1535906"/>
            <a:ext cx="2009682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IMPUTATION STRATEGY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000625" y="2003822"/>
            <a:ext cx="23803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pH: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310094" y="2003822"/>
            <a:ext cx="17550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491 missing values (15.0%)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000625" y="2325291"/>
            <a:ext cx="52394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Sulfate: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596012" y="2325291"/>
            <a:ext cx="175507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781 missing values (23.8%)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000625" y="2646759"/>
            <a:ext cx="11830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Trihalomethanes: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255079" y="2646759"/>
            <a:ext cx="167560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162 missing values (4.9%)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000625" y="3039666"/>
            <a:ext cx="35004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i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Method:</a:t>
            </a:r>
            <a:r>
              <a:rPr lang="en-US" sz="950" i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Median Imputation was utilized to fill gaps based on training set statistics.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4964906" y="3625453"/>
            <a:ext cx="375046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Imputation was performed </a:t>
            </a:r>
            <a:r>
              <a:rPr lang="en-US" sz="10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data splitting</a:t>
            </a: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strictly avoid data leakage from the test set.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DATA PREPROCESSING PIPELINE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268560" y="1250156"/>
            <a:ext cx="2057400" cy="3893344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80002" y="1250156"/>
            <a:ext cx="2000250" cy="635794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6" name="Text 3"/>
          <p:cNvSpPr/>
          <p:nvPr/>
        </p:nvSpPr>
        <p:spPr>
          <a:xfrm>
            <a:off x="280002" y="1250156"/>
            <a:ext cx="2000250" cy="635794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100" dirty="0"/>
          </a:p>
        </p:txBody>
      </p:sp>
      <p:sp>
        <p:nvSpPr>
          <p:cNvPr id="7" name="Text 4"/>
          <p:cNvSpPr/>
          <p:nvPr/>
        </p:nvSpPr>
        <p:spPr>
          <a:xfrm>
            <a:off x="515020" y="2028825"/>
            <a:ext cx="1530214" cy="42862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SPLITTING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80002" y="2600325"/>
            <a:ext cx="2000250" cy="964406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Train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(2,620)
</a:t>
            </a: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 Test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(656)
 Applied </a:t>
            </a:r>
            <a:r>
              <a:rPr lang="en-US" sz="9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Stratified Sampling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maintain class distribution.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417378" y="1250156"/>
            <a:ext cx="2057400" cy="3893344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440260" y="1250156"/>
            <a:ext cx="2000250" cy="635794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1" name="Text 8"/>
          <p:cNvSpPr/>
          <p:nvPr/>
        </p:nvSpPr>
        <p:spPr>
          <a:xfrm>
            <a:off x="2440260" y="1250156"/>
            <a:ext cx="2000250" cy="635794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100" dirty="0"/>
          </a:p>
        </p:txBody>
      </p:sp>
      <p:sp>
        <p:nvSpPr>
          <p:cNvPr id="12" name="Text 9"/>
          <p:cNvSpPr/>
          <p:nvPr/>
        </p:nvSpPr>
        <p:spPr>
          <a:xfrm>
            <a:off x="2641792" y="2028825"/>
            <a:ext cx="1597186" cy="42862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440260" y="2600325"/>
            <a:ext cx="2000250" cy="771525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Utilized </a:t>
            </a:r>
            <a:r>
              <a:rPr lang="en-US" sz="9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Median Imputation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
 Performed on training set first to strictly avoid </a:t>
            </a: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Leakage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89078" y="1250156"/>
            <a:ext cx="2057400" cy="3893344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23402" y="1250156"/>
            <a:ext cx="2000250" cy="635794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16" name="Text 13"/>
          <p:cNvSpPr/>
          <p:nvPr/>
        </p:nvSpPr>
        <p:spPr>
          <a:xfrm>
            <a:off x="4623402" y="1250156"/>
            <a:ext cx="2000250" cy="635794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100" dirty="0"/>
          </a:p>
        </p:txBody>
      </p:sp>
      <p:sp>
        <p:nvSpPr>
          <p:cNvPr id="17" name="Text 14"/>
          <p:cNvSpPr/>
          <p:nvPr/>
        </p:nvSpPr>
        <p:spPr>
          <a:xfrm>
            <a:off x="4729776" y="2028825"/>
            <a:ext cx="1787500" cy="42862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OUTLIER REMOVAL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623402" y="2600325"/>
            <a:ext cx="2000250" cy="1157288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Employed the </a:t>
            </a:r>
            <a:r>
              <a:rPr lang="en-US" sz="9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Interquartile Range (IQR)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method.
 Identified and removed statistical anomalies to improve model stability.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783660" y="1250156"/>
            <a:ext cx="2057400" cy="3893344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29425" y="1250156"/>
            <a:ext cx="2000250" cy="635794"/>
          </a:xfrm>
          <a:prstGeom prst="rect">
            <a:avLst/>
          </a:prstGeom>
          <a:solidFill>
            <a:srgbClr val="0B132B"/>
          </a:solidFill>
          <a:ln/>
        </p:spPr>
      </p:sp>
      <p:sp>
        <p:nvSpPr>
          <p:cNvPr id="21" name="Text 18"/>
          <p:cNvSpPr/>
          <p:nvPr/>
        </p:nvSpPr>
        <p:spPr>
          <a:xfrm>
            <a:off x="6829425" y="1250156"/>
            <a:ext cx="2000250" cy="635794"/>
          </a:xfrm>
          <a:prstGeom prst="rect">
            <a:avLst/>
          </a:prstGeom>
          <a:noFill/>
          <a:ln/>
        </p:spPr>
        <p:txBody>
          <a:bodyPr wrap="square" lIns="0" tIns="85090" rIns="0" bIns="85090" rtlCol="0" anchor="t">
            <a:spAutoFit/>
          </a:bodyPr>
          <a:lstStyle/>
          <a:p>
            <a:pPr marL="0" indent="0" algn="ctr">
              <a:buNone/>
            </a:pPr>
            <a:r>
              <a:rPr lang="en-US" sz="3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100" dirty="0"/>
          </a:p>
        </p:txBody>
      </p:sp>
      <p:sp>
        <p:nvSpPr>
          <p:cNvPr id="22" name="Text 19"/>
          <p:cNvSpPr/>
          <p:nvPr/>
        </p:nvSpPr>
        <p:spPr>
          <a:xfrm>
            <a:off x="6950087" y="2028825"/>
            <a:ext cx="1758925" cy="428625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829425" y="2600325"/>
            <a:ext cx="2000250" cy="964406"/>
          </a:xfrm>
          <a:prstGeom prst="rect">
            <a:avLst/>
          </a:prstGeom>
          <a:noFill/>
          <a:ln/>
        </p:spPr>
        <p:txBody>
          <a:bodyPr wrap="square" lIns="127508" tIns="0" rIns="127508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Applied </a:t>
            </a:r>
            <a:r>
              <a:rPr lang="en-US" sz="9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StandardScaler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
 Normalized all features to a </a:t>
            </a: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Standard Normal Distribution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(Mean=0, SD=1).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728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250" b="1" kern="0" spc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MACHINE LEARNING MODELS &amp; HYPERPARAMETER TUNING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0" y="1121569"/>
            <a:ext cx="9144000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Evaluated using 3-Fold Cross-Validation and GridSearchCV for optimal parameter selection.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28625" y="1568053"/>
            <a:ext cx="2619356" cy="1521619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28625" y="2043113"/>
            <a:ext cx="26193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8625" y="2346722"/>
            <a:ext cx="26193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kern="0" spc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CROSS-VAL ACCURACY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28625" y="2514600"/>
            <a:ext cx="2619356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0.6103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262294" y="1568053"/>
            <a:ext cx="2619356" cy="1521619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262294" y="2043113"/>
            <a:ext cx="26193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TREE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262294" y="2346722"/>
            <a:ext cx="26193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kern="0" spc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CROSS-VAL ACCURACY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262294" y="2514600"/>
            <a:ext cx="2619356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0.6397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095963" y="1568053"/>
            <a:ext cx="2619356" cy="1521619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95963" y="2043113"/>
            <a:ext cx="26193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95963" y="2346722"/>
            <a:ext cx="26193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kern="0" spc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CROSS-VAL ACCURACY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095963" y="2514600"/>
            <a:ext cx="2619356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0.6767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428625" y="3434358"/>
            <a:ext cx="2619356" cy="1521619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8625" y="3909417"/>
            <a:ext cx="26193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28625" y="4213027"/>
            <a:ext cx="26193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kern="0" spc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CROSS-VAL ACCURACY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28625" y="4380905"/>
            <a:ext cx="2619356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0.6676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3262294" y="3434358"/>
            <a:ext cx="2619356" cy="1521619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62294" y="3909417"/>
            <a:ext cx="26193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SVM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262294" y="4213027"/>
            <a:ext cx="26193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kern="0" spc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CROSS-VAL ACCURACY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262294" y="4380905"/>
            <a:ext cx="2619356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0.6714</a:t>
            </a:r>
            <a:endParaRPr lang="en-US" sz="1800" dirty="0"/>
          </a:p>
        </p:txBody>
      </p:sp>
      <p:sp>
        <p:nvSpPr>
          <p:cNvPr id="25" name="Shape 22"/>
          <p:cNvSpPr/>
          <p:nvPr/>
        </p:nvSpPr>
        <p:spPr>
          <a:xfrm>
            <a:off x="6095963" y="3434358"/>
            <a:ext cx="2619356" cy="1521619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95963" y="3937992"/>
            <a:ext cx="2619356" cy="196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KNN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095963" y="4241602"/>
            <a:ext cx="2619356" cy="132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850" kern="0" spc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CROSS-VAL ACCURACY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095963" y="4409480"/>
            <a:ext cx="2619356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0.6439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COMPARATIVE PERFORMANCE ON TEST DATA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964406"/>
            <a:ext cx="5476633" cy="3414713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07281"/>
            <a:ext cx="5132784" cy="321468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887120" y="964406"/>
            <a:ext cx="2828255" cy="4179094"/>
          </a:xfrm>
          <a:prstGeom prst="rect">
            <a:avLst/>
          </a:prstGeom>
          <a:solidFill>
            <a:srgbClr val="FFFFFF"/>
          </a:solidFill>
          <a:ln w="27432">
            <a:solidFill>
              <a:srgbClr val="43B929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6104669" y="1178719"/>
            <a:ext cx="1206791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104669" y="1668066"/>
            <a:ext cx="2432112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led the performance with </a:t>
            </a: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66.5%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accuracy on unseen test data.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6104669" y="2222376"/>
            <a:ext cx="243211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</a:t>
            </a: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Forest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followed closely at </a:t>
            </a: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66.0%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demonstrating strong generalization.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6104669" y="2982404"/>
            <a:ext cx="2432112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Baseline </a:t>
            </a: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Logistic Regression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achieved </a:t>
            </a:r>
            <a:r>
              <a:rPr lang="en-US" sz="9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61.0%</a:t>
            </a:r>
            <a:r>
              <a:rPr lang="en-US" sz="9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indicating the complexity of the non-linear relationships in the data.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92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XGBOOST: THE OPTIMAL PREDICTIVE MODEL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68585" y="1035844"/>
            <a:ext cx="1914525" cy="1343025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99889" y="1394817"/>
            <a:ext cx="101765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66.46%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40811" y="1812727"/>
            <a:ext cx="735806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531678" y="1035844"/>
            <a:ext cx="1914525" cy="1343025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74423" y="1394817"/>
            <a:ext cx="101765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46.08%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3158151" y="1812727"/>
            <a:ext cx="65019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F1-SCORE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617653" y="1035844"/>
            <a:ext cx="1914525" cy="1343025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71839" y="1394817"/>
            <a:ext cx="101765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61.84%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226937" y="1812727"/>
            <a:ext cx="70739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726510" y="1035844"/>
            <a:ext cx="1914525" cy="1343025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92138" y="1394817"/>
            <a:ext cx="101765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43B92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36.72%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7440216" y="1812727"/>
            <a:ext cx="5214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28625" y="2607469"/>
            <a:ext cx="8286750" cy="1671638"/>
          </a:xfrm>
          <a:prstGeom prst="rect">
            <a:avLst/>
          </a:prstGeom>
          <a:solidFill>
            <a:srgbClr val="FFFFFF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2938" y="2821781"/>
            <a:ext cx="1641053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XGBOOST?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42938" y="3225403"/>
            <a:ext cx="78581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 (Extreme Gradient Boosting) was selected for its superior ability to capture </a:t>
            </a:r>
            <a:r>
              <a:rPr lang="en-US" sz="1000" b="1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complex, non-linear relationships</a:t>
            </a:r>
            <a:r>
              <a:rPr lang="en-US" sz="105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between chemical properties. It provided the most reliable trade-off between precision and recall, outperforming all other models after rigorous hyperparameter tuning.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2938" y="4054078"/>
            <a:ext cx="1297316" cy="16787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0" name="Shape 17"/>
          <p:cNvSpPr/>
          <p:nvPr/>
        </p:nvSpPr>
        <p:spPr>
          <a:xfrm>
            <a:off x="642938" y="4054078"/>
            <a:ext cx="28575" cy="167878"/>
          </a:xfrm>
          <a:prstGeom prst="rect">
            <a:avLst/>
          </a:prstGeom>
          <a:solidFill>
            <a:srgbClr val="43B929"/>
          </a:solidFill>
          <a:ln/>
        </p:spPr>
      </p:sp>
      <p:sp>
        <p:nvSpPr>
          <p:cNvPr id="21" name="Text 18"/>
          <p:cNvSpPr/>
          <p:nvPr/>
        </p:nvSpPr>
        <p:spPr>
          <a:xfrm>
            <a:off x="642938" y="4054078"/>
            <a:ext cx="1297316" cy="167878"/>
          </a:xfrm>
          <a:prstGeom prst="rect">
            <a:avLst/>
          </a:prstGeom>
          <a:noFill/>
          <a:ln/>
        </p:spPr>
        <p:txBody>
          <a:bodyPr wrap="square" lIns="127508" tIns="42545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Rate: 0.05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125991" y="4054078"/>
            <a:ext cx="954193" cy="16787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3" name="Shape 20"/>
          <p:cNvSpPr/>
          <p:nvPr/>
        </p:nvSpPr>
        <p:spPr>
          <a:xfrm>
            <a:off x="2125991" y="4054078"/>
            <a:ext cx="28575" cy="167878"/>
          </a:xfrm>
          <a:prstGeom prst="rect">
            <a:avLst/>
          </a:prstGeom>
          <a:solidFill>
            <a:srgbClr val="43B929"/>
          </a:solidFill>
          <a:ln/>
        </p:spPr>
      </p:sp>
      <p:sp>
        <p:nvSpPr>
          <p:cNvPr id="24" name="Text 21"/>
          <p:cNvSpPr/>
          <p:nvPr/>
        </p:nvSpPr>
        <p:spPr>
          <a:xfrm>
            <a:off x="2125991" y="4054078"/>
            <a:ext cx="954193" cy="167878"/>
          </a:xfrm>
          <a:prstGeom prst="rect">
            <a:avLst/>
          </a:prstGeom>
          <a:noFill/>
          <a:ln/>
        </p:spPr>
        <p:txBody>
          <a:bodyPr wrap="none" lIns="127508" tIns="42545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Max Depth: 6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265922" y="4054078"/>
            <a:ext cx="1094166" cy="167878"/>
          </a:xfrm>
          <a:prstGeom prst="rect">
            <a:avLst/>
          </a:prstGeom>
          <a:solidFill>
            <a:srgbClr val="E9ECEF"/>
          </a:solidFill>
          <a:ln/>
        </p:spPr>
      </p:sp>
      <p:sp>
        <p:nvSpPr>
          <p:cNvPr id="26" name="Shape 23"/>
          <p:cNvSpPr/>
          <p:nvPr/>
        </p:nvSpPr>
        <p:spPr>
          <a:xfrm>
            <a:off x="3265922" y="4054078"/>
            <a:ext cx="28575" cy="167878"/>
          </a:xfrm>
          <a:prstGeom prst="rect">
            <a:avLst/>
          </a:prstGeom>
          <a:solidFill>
            <a:srgbClr val="43B929"/>
          </a:solidFill>
          <a:ln/>
        </p:spPr>
      </p:sp>
      <p:sp>
        <p:nvSpPr>
          <p:cNvPr id="27" name="Text 24"/>
          <p:cNvSpPr/>
          <p:nvPr/>
        </p:nvSpPr>
        <p:spPr>
          <a:xfrm>
            <a:off x="3265922" y="4054078"/>
            <a:ext cx="1094166" cy="167878"/>
          </a:xfrm>
          <a:prstGeom prst="rect">
            <a:avLst/>
          </a:prstGeom>
          <a:noFill/>
          <a:ln/>
        </p:spPr>
        <p:txBody>
          <a:bodyPr wrap="none" lIns="127508" tIns="42545" rIns="127508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Estimators: 200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785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STRATEGIC FUTURE ENHANCEMENTS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428625" y="1428750"/>
            <a:ext cx="4143375" cy="3714750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2938" y="1643063"/>
            <a:ext cx="2344936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CONCLUSION</a:t>
            </a:r>
            <a:endParaRPr lang="en-US" sz="1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2260997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8681" y="2225278"/>
            <a:ext cx="3450431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Successfully developed a </a:t>
            </a:r>
            <a:r>
              <a:rPr lang="en-US" sz="95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classification pipeline</a:t>
            </a: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water potability prediction.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938" y="2811066"/>
            <a:ext cx="128588" cy="1285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78681" y="2775347"/>
            <a:ext cx="3450431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 individual feature correlations limited overall accuracy, indicating </a:t>
            </a:r>
            <a:r>
              <a:rPr lang="en-US" sz="95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complex non-linear dependencies</a:t>
            </a: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0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361134"/>
            <a:ext cx="96441" cy="12858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46534" y="3325416"/>
            <a:ext cx="3482578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XGBoost</a:t>
            </a: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provided the best performance balance with 66.46% accuracy and 46.08% F1-Score.</a:t>
            </a:r>
            <a:endParaRPr lang="en-US" sz="9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8" y="3911203"/>
            <a:ext cx="128588" cy="12858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78681" y="3875484"/>
            <a:ext cx="3450431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model serves as a </a:t>
            </a:r>
            <a:r>
              <a:rPr lang="en-US" sz="95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solid baseline</a:t>
            </a: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further environmental data analysis.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4543425" y="1428750"/>
            <a:ext cx="4171950" cy="3714750"/>
          </a:xfrm>
          <a:prstGeom prst="rect">
            <a:avLst/>
          </a:prstGeom>
          <a:solidFill>
            <a:srgbClr val="F8F9FA"/>
          </a:solidFill>
          <a:ln w="27432">
            <a:solidFill>
              <a:srgbClr val="0B132B"/>
            </a:solidFill>
            <a:prstDash val="solid"/>
          </a:ln>
        </p:spPr>
      </p:sp>
      <p:sp>
        <p:nvSpPr>
          <p:cNvPr id="15" name="Text 8"/>
          <p:cNvSpPr/>
          <p:nvPr/>
        </p:nvSpPr>
        <p:spPr>
          <a:xfrm>
            <a:off x="4786313" y="1643063"/>
            <a:ext cx="1900182" cy="260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B13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FUTURE ROADMAP</a:t>
            </a:r>
            <a:endParaRPr lang="en-US" sz="14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6313" y="2260997"/>
            <a:ext cx="160734" cy="12858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054203" y="2225278"/>
            <a:ext cx="3446859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Feature Engineering</a:t>
            </a: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Create interaction terms and domain-specific indicators.</a:t>
            </a:r>
            <a:endParaRPr lang="en-US" sz="95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3" y="2811066"/>
            <a:ext cx="160734" cy="12858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054203" y="2775347"/>
            <a:ext cx="3446859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Balancing</a:t>
            </a: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Implement SMOTE or cost-sensitive learning to handle target imbalance.</a:t>
            </a:r>
            <a:endParaRPr lang="en-US" sz="95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6313" y="3361134"/>
            <a:ext cx="128588" cy="12858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022056" y="3325416"/>
            <a:ext cx="3479006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Ensemble Methods</a:t>
            </a: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Explore Stacking and Voting classifiers to combine model strengths.</a:t>
            </a:r>
            <a:endParaRPr lang="en-US" sz="95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86313" y="3911203"/>
            <a:ext cx="114300" cy="12858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007769" y="3875484"/>
            <a:ext cx="3493294" cy="407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50" b="1" dirty="0">
                <a:solidFill>
                  <a:srgbClr val="3A5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Expansion</a:t>
            </a:r>
            <a:r>
              <a:rPr lang="en-US" sz="1000" dirty="0">
                <a:solidFill>
                  <a:srgbClr val="1C254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Collect additional features like seasonal variations or source types.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695</Words>
  <Application>Microsoft Office PowerPoint</Application>
  <PresentationFormat>On-screen Show (16:9)</PresentationFormat>
  <Paragraphs>131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mohammed yahia</cp:lastModifiedBy>
  <cp:revision>2</cp:revision>
  <dcterms:created xsi:type="dcterms:W3CDTF">2026-07-30T15:52:32Z</dcterms:created>
  <dcterms:modified xsi:type="dcterms:W3CDTF">2026-07-31T13:31:00Z</dcterms:modified>
</cp:coreProperties>
</file>